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2307bc-37b8-1e06-6c70-ce82e36a9f1b}">
          <p14:sldIdLst>
            <p14:sldId id="256"/>
            <p14:sldId id="257"/>
            <p14:sldId id="258"/>
          </p14:sldIdLst>
        </p14:section>
        <p14:section name="Résultats" id="{cfcd923c-a369-6233-1975-a69808b8cba4}">
          <p14:sldIdLst>
            <p14:sldId id="259"/>
            <p14:sldId id="260"/>
          </p14:sldIdLst>
        </p14:section>
        <p14:section name="Conclusion" id="{5a0bd426-d84f-4add-7814-46abeec946e4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9728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6002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9260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6002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Prédiction des prix de l'immobilier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9260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Projet Machine Learning, Sujet 5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Oumar KA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Enseignant : Dr Yoro DIA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Le problème et les données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Régression supervisée : estimer un nombre (le prix) à partir de caractéristiques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Source : Kaggle House Prices (maisons d'Ames, Iowa)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Cible : SalePrice, médiane 163 000 $, moyenne 180 921 $ (distribution asymétrique à droite)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Mesures : MAE, RMSE, R²</a:t>
            </a:r>
            <a:endParaRPr lang="en-US" sz="1500" dirty="0"/>
          </a:p>
        </p:txBody>
      </p:sp>
      <p:sp>
        <p:nvSpPr>
          <p:cNvPr id="4" name="Carte"/>
          <p:cNvSpPr/>
          <p:nvPr/>
        </p:nvSpPr>
        <p:spPr>
          <a:xfrm>
            <a:off x="5760720" y="1051560"/>
            <a:ext cx="292608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iffre"/>
          <p:cNvSpPr txBox="1"/>
          <p:nvPr/>
        </p:nvSpPr>
        <p:spPr>
          <a:xfrm>
            <a:off x="5760720" y="116128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1460</a:t>
            </a:r>
            <a:endParaRPr lang="en-US" sz="3000" dirty="0"/>
          </a:p>
        </p:txBody>
      </p:sp>
      <p:sp>
        <p:nvSpPr>
          <p:cNvPr id="6" name="Legende"/>
          <p:cNvSpPr txBox="1"/>
          <p:nvPr/>
        </p:nvSpPr>
        <p:spPr>
          <a:xfrm>
            <a:off x="5852160" y="1687982"/>
            <a:ext cx="27432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maisons</a:t>
            </a:r>
            <a:endParaRPr lang="en-US" sz="1300" dirty="0"/>
          </a:p>
        </p:txBody>
      </p:sp>
      <p:sp>
        <p:nvSpPr>
          <p:cNvPr id="7" name="Carte"/>
          <p:cNvSpPr/>
          <p:nvPr/>
        </p:nvSpPr>
        <p:spPr>
          <a:xfrm>
            <a:off x="5760720" y="2286000"/>
            <a:ext cx="292608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iffre"/>
          <p:cNvSpPr txBox="1"/>
          <p:nvPr/>
        </p:nvSpPr>
        <p:spPr>
          <a:xfrm>
            <a:off x="5760720" y="23957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81</a:t>
            </a:r>
            <a:endParaRPr lang="en-US" sz="3000" dirty="0"/>
          </a:p>
        </p:txBody>
      </p:sp>
      <p:sp>
        <p:nvSpPr>
          <p:cNvPr id="9" name="Legende"/>
          <p:cNvSpPr txBox="1"/>
          <p:nvPr/>
        </p:nvSpPr>
        <p:spPr>
          <a:xfrm>
            <a:off x="5852160" y="2922422"/>
            <a:ext cx="27432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colonnes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5760720" y="3520440"/>
            <a:ext cx="292608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hiffre"/>
          <p:cNvSpPr txBox="1"/>
          <p:nvPr/>
        </p:nvSpPr>
        <p:spPr>
          <a:xfrm>
            <a:off x="5760720" y="363016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79</a:t>
            </a:r>
            <a:endParaRPr lang="en-US" sz="3000" dirty="0"/>
          </a:p>
        </p:txBody>
      </p:sp>
      <p:sp>
        <p:nvSpPr>
          <p:cNvPr id="12" name="Legende"/>
          <p:cNvSpPr txBox="1"/>
          <p:nvPr/>
        </p:nvSpPr>
        <p:spPr>
          <a:xfrm>
            <a:off x="5852160" y="4156862"/>
            <a:ext cx="27432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variables explicatives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Nettoyage et préparation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754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Case vide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Traitement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Pas de piscine, garage, ruelle...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absence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« Aucune 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Surface de placage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pas de placage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LotFrontage, Electrical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donnée perdue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médiane / mode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05156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 maisons aberrantes retirées : 1458 maisons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One-hot : 79 → 301 colonnes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Entraînement 1166 / test 292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Standardisation : sans effet visible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Résultats sur les 292 maisons de test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37160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Modèle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MAE ($)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RMSE ($)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R² test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Écart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Régression linéaire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18 207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25 759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0,880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0,064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Ridge (alpha = 10)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16 807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23 213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0,902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0,034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Lasso (alpha = 100)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16 286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22 937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0,905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Forêt aléatoire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16 860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24 262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0,893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0,090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Arbre (profondeur 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26 674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37 514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0,745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0,161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Réseau de neurones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15 581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22 375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0,909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0,059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Écart = R² entraînement − R² test (apprentissage par cœur). Repère : répondre toujours la médiane donne une MAE d'environ 57 000 $.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Ce qui fait le prix, et où le modèle se trompe</a:t>
            </a:r>
            <a:endParaRPr lang="en-US" sz="2400" dirty="0"/>
          </a:p>
        </p:txBody>
      </p:sp>
      <p:sp>
        <p:nvSpPr>
          <p:cNvPr id="3" name="Carte"/>
          <p:cNvSpPr/>
          <p:nvPr/>
        </p:nvSpPr>
        <p:spPr>
          <a:xfrm>
            <a:off x="457200" y="105156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ffre"/>
          <p:cNvSpPr txBox="1"/>
          <p:nvPr/>
        </p:nvSpPr>
        <p:spPr>
          <a:xfrm>
            <a:off x="457200" y="1161288"/>
            <a:ext cx="2651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55,9 %</a:t>
            </a:r>
            <a:endParaRPr lang="en-US" sz="3000" dirty="0"/>
          </a:p>
        </p:txBody>
      </p:sp>
      <p:sp>
        <p:nvSpPr>
          <p:cNvPr id="5" name="Legende"/>
          <p:cNvSpPr txBox="1"/>
          <p:nvPr/>
        </p:nvSpPr>
        <p:spPr>
          <a:xfrm>
            <a:off x="548640" y="184708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OverallQual (qualité de construction)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3246120" y="105156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iffre"/>
          <p:cNvSpPr txBox="1"/>
          <p:nvPr/>
        </p:nvSpPr>
        <p:spPr>
          <a:xfrm>
            <a:off x="3246120" y="1161288"/>
            <a:ext cx="2651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12,1 %</a:t>
            </a:r>
            <a:endParaRPr lang="en-US" sz="3000" dirty="0"/>
          </a:p>
        </p:txBody>
      </p:sp>
      <p:sp>
        <p:nvSpPr>
          <p:cNvPr id="8" name="Legende"/>
          <p:cNvSpPr txBox="1"/>
          <p:nvPr/>
        </p:nvSpPr>
        <p:spPr>
          <a:xfrm>
            <a:off x="3337560" y="184708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GrLivArea (surface habitable)</a:t>
            </a:r>
            <a:endParaRPr lang="en-US" sz="1300" dirty="0"/>
          </a:p>
        </p:txBody>
      </p:sp>
      <p:sp>
        <p:nvSpPr>
          <p:cNvPr id="9" name="Carte"/>
          <p:cNvSpPr/>
          <p:nvPr/>
        </p:nvSpPr>
        <p:spPr>
          <a:xfrm>
            <a:off x="6035040" y="105156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hiffre"/>
          <p:cNvSpPr txBox="1"/>
          <p:nvPr/>
        </p:nvSpPr>
        <p:spPr>
          <a:xfrm>
            <a:off x="6035040" y="1161288"/>
            <a:ext cx="2651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6,1 %</a:t>
            </a:r>
            <a:endParaRPr lang="en-US" sz="3000" dirty="0"/>
          </a:p>
        </p:txBody>
      </p:sp>
      <p:sp>
        <p:nvSpPr>
          <p:cNvPr id="11" name="Legende"/>
          <p:cNvSpPr txBox="1"/>
          <p:nvPr/>
        </p:nvSpPr>
        <p:spPr>
          <a:xfrm>
            <a:off x="6126480" y="184708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TotalBsmtSF (surface du sous-sol)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97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prix dépend d'abord de la qualité, puis de la surface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Erreur typique d'environ 12 400 $ ; 9 % des maisons dépassent 40 000 $ d'erreur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Pires erreurs (jusqu'à 89 000 $) : ventes atypiques et états extrêmes (hypothèses)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Défis de l'énoncé : l'exemple de Ziguinchor</a:t>
            </a:r>
            <a:endParaRPr lang="en-US" sz="2400" dirty="0"/>
          </a:p>
        </p:txBody>
      </p:sp>
      <p:sp>
        <p:nvSpPr>
          <p:cNvPr id="3" name="Carte defi"/>
          <p:cNvSpPr/>
          <p:nvPr/>
        </p:nvSpPr>
        <p:spPr>
          <a:xfrm>
            <a:off x="457200" y="105156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Hétérogénéité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Modèle appris sur Ames (dollars, pieds carrés). Pour Ziguinchor : données locales (quartier, m², FCFA) et, pour Ziguinchor Immo, le loyer mensuel comme cible.</a:t>
            </a:r>
            <a:endParaRPr lang="en-US" sz="1300" dirty="0"/>
          </a:p>
        </p:txBody>
      </p:sp>
      <p:sp>
        <p:nvSpPr>
          <p:cNvPr id="6" name="Carte defi"/>
          <p:cNvSpPr/>
          <p:nvPr/>
        </p:nvSpPr>
        <p:spPr>
          <a:xfrm>
            <a:off x="3246120" y="105156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43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Non-stationnarité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8288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prix évoluent (ventes de 2006 à 2010 ici). Il faut réentraîner le modèle régulièrement avec des données récentes.</a:t>
            </a:r>
            <a:endParaRPr lang="en-US" sz="1300" dirty="0"/>
          </a:p>
        </p:txBody>
      </p:sp>
      <p:sp>
        <p:nvSpPr>
          <p:cNvPr id="9" name="Carte defi"/>
          <p:cNvSpPr/>
          <p:nvPr/>
        </p:nvSpPr>
        <p:spPr>
          <a:xfrm>
            <a:off x="6035040" y="105156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43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Multicolinéarité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8288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Colonnes très liées entre elles : poids instables. Ridge stabilise les poids, Lasso élimine 174 colonnes sur 301.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Carte"/>
          <p:cNvSpPr/>
          <p:nvPr/>
        </p:nvSpPr>
        <p:spPr>
          <a:xfrm>
            <a:off x="457200" y="1051560"/>
            <a:ext cx="27432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ffre"/>
          <p:cNvSpPr txBox="1"/>
          <p:nvPr/>
        </p:nvSpPr>
        <p:spPr>
          <a:xfrm>
            <a:off x="457200" y="1161288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0,902</a:t>
            </a:r>
            <a:endParaRPr lang="en-US" sz="3000" dirty="0"/>
          </a:p>
        </p:txBody>
      </p:sp>
      <p:sp>
        <p:nvSpPr>
          <p:cNvPr id="5" name="Legende"/>
          <p:cNvSpPr txBox="1"/>
          <p:nvPr/>
        </p:nvSpPr>
        <p:spPr>
          <a:xfrm>
            <a:off x="548640" y="1847088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R² test de Ridge (alpha = 10), modèle retenu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457200" y="2560320"/>
            <a:ext cx="27432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iffre"/>
          <p:cNvSpPr txBox="1"/>
          <p:nvPr/>
        </p:nvSpPr>
        <p:spPr>
          <a:xfrm>
            <a:off x="457200" y="2670048"/>
            <a:ext cx="274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≈ 10 %</a:t>
            </a:r>
            <a:endParaRPr lang="en-US" sz="3000" dirty="0"/>
          </a:p>
        </p:txBody>
      </p:sp>
      <p:sp>
        <p:nvSpPr>
          <p:cNvPr id="8" name="Legende"/>
          <p:cNvSpPr txBox="1"/>
          <p:nvPr/>
        </p:nvSpPr>
        <p:spPr>
          <a:xfrm>
            <a:off x="548640" y="3355848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d'erreur typique sur le prix médian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05156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qualité des données compte plus que la sophistication du modèle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modèle simple et freiné (Ridge) fait aussi bien que les plus complexes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modèle ne vaut que pour son marché : données locales pour Ziguinchor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Limite : réglages de Lasso, arbre et réseau regardés sur le test (scores un peu optimistes)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mobilier ML">
  <a:themeElements>
    <a:clrScheme name="Immobilier ML">
      <a:dk1>
        <a:srgbClr val="1F2933"/>
      </a:dk1>
      <a:lt1>
        <a:srgbClr val="FFFFFF"/>
      </a:lt1>
      <a:dk2>
        <a:srgbClr val="0B3C5D"/>
      </a:dk2>
      <a:lt2>
        <a:srgbClr val="EEF3F7"/>
      </a:lt2>
      <a:accent1>
        <a:srgbClr val="1D7A8C"/>
      </a:accent1>
      <a:accent2>
        <a:srgbClr val="F2A541"/>
      </a:accent2>
      <a:accent3>
        <a:srgbClr val="3A7D44"/>
      </a:accent3>
      <a:accent4>
        <a:srgbClr val="C0392B"/>
      </a:accent4>
      <a:accent5>
        <a:srgbClr val="6C7A89"/>
      </a:accent5>
      <a:accent6>
        <a:srgbClr val="5B8DB8"/>
      </a:accent6>
      <a:hlink>
        <a:srgbClr val="1D7A8C"/>
      </a:hlink>
      <a:folHlink>
        <a:srgbClr val="6C7A89"/>
      </a:folHlink>
    </a:clrScheme>
    <a:fontScheme name="Immobilier M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des prix de l'immobilier</dc:title>
  <dc:subject>PptxGenJS Presentation</dc:subject>
  <dc:creator>PptxGenJS</dc:creator>
  <cp:lastModifiedBy>PptxGenJS</cp:lastModifiedBy>
  <cp:revision>1</cp:revision>
  <dcterms:created xsi:type="dcterms:W3CDTF">2026-10-11T22:34:37Z</dcterms:created>
  <dcterms:modified xsi:type="dcterms:W3CDTF">2026-10-11T22:34:37Z</dcterms:modified>
</cp:coreProperties>
</file>